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88" r:id="rId3"/>
    <p:sldId id="296" r:id="rId4"/>
    <p:sldId id="299" r:id="rId5"/>
    <p:sldId id="300" r:id="rId6"/>
    <p:sldId id="274" r:id="rId7"/>
    <p:sldId id="286" r:id="rId8"/>
    <p:sldId id="302" r:id="rId9"/>
    <p:sldId id="303" r:id="rId10"/>
    <p:sldId id="304" r:id="rId11"/>
    <p:sldId id="305" r:id="rId12"/>
  </p:sldIdLst>
  <p:sldSz cx="12192000" cy="6858000"/>
  <p:notesSz cx="6858000" cy="9144000"/>
  <p:defaultTextStyle>
    <a:defPPr>
      <a:defRPr lang="lv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1199C4-9B3F-43D7-A25C-06D7D8029B42}" v="3" dt="2026-10-06T20:53:58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2310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ladislavs Babaņins" userId="ed3b0c9c-be46-44ea-9335-bc3cc0fcdf88" providerId="ADAL" clId="{F6614888-F310-47FE-AEFC-BC32CE6C06D5}"/>
    <pc:docChg chg="modSld">
      <pc:chgData name="Vladislavs Babaņins" userId="ed3b0c9c-be46-44ea-9335-bc3cc0fcdf88" providerId="ADAL" clId="{F6614888-F310-47FE-AEFC-BC32CE6C06D5}" dt="2026-10-06T20:54:22.925" v="13" actId="20577"/>
      <pc:docMkLst>
        <pc:docMk/>
      </pc:docMkLst>
      <pc:sldChg chg="modSp">
        <pc:chgData name="Vladislavs Babaņins" userId="ed3b0c9c-be46-44ea-9335-bc3cc0fcdf88" providerId="ADAL" clId="{F6614888-F310-47FE-AEFC-BC32CE6C06D5}" dt="2026-10-06T20:48:46.985" v="2"/>
        <pc:sldMkLst>
          <pc:docMk/>
          <pc:sldMk cId="2750506085" sldId="274"/>
        </pc:sldMkLst>
        <pc:spChg chg="mod">
          <ac:chgData name="Vladislavs Babaņins" userId="ed3b0c9c-be46-44ea-9335-bc3cc0fcdf88" providerId="ADAL" clId="{F6614888-F310-47FE-AEFC-BC32CE6C06D5}" dt="2026-10-06T20:48:46.985" v="2"/>
          <ac:spMkLst>
            <pc:docMk/>
            <pc:sldMk cId="2750506085" sldId="274"/>
            <ac:spMk id="2" creationId="{CCC1E387-641A-05F6-3F95-ECAA1C1D1D31}"/>
          </ac:spMkLst>
        </pc:spChg>
      </pc:sldChg>
      <pc:sldChg chg="modSp">
        <pc:chgData name="Vladislavs Babaņins" userId="ed3b0c9c-be46-44ea-9335-bc3cc0fcdf88" providerId="ADAL" clId="{F6614888-F310-47FE-AEFC-BC32CE6C06D5}" dt="2026-10-06T20:48:53.687" v="3"/>
        <pc:sldMkLst>
          <pc:docMk/>
          <pc:sldMk cId="3313927341" sldId="286"/>
        </pc:sldMkLst>
        <pc:spChg chg="mod">
          <ac:chgData name="Vladislavs Babaņins" userId="ed3b0c9c-be46-44ea-9335-bc3cc0fcdf88" providerId="ADAL" clId="{F6614888-F310-47FE-AEFC-BC32CE6C06D5}" dt="2026-10-06T20:48:53.687" v="3"/>
          <ac:spMkLst>
            <pc:docMk/>
            <pc:sldMk cId="3313927341" sldId="286"/>
            <ac:spMk id="2" creationId="{95298F15-6013-A2D0-4882-2E3986AD9FAE}"/>
          </ac:spMkLst>
        </pc:spChg>
      </pc:sldChg>
      <pc:sldChg chg="modSp mod">
        <pc:chgData name="Vladislavs Babaņins" userId="ed3b0c9c-be46-44ea-9335-bc3cc0fcdf88" providerId="ADAL" clId="{F6614888-F310-47FE-AEFC-BC32CE6C06D5}" dt="2026-10-06T20:53:59.456" v="11" actId="20577"/>
        <pc:sldMkLst>
          <pc:docMk/>
          <pc:sldMk cId="3120769743" sldId="288"/>
        </pc:sldMkLst>
        <pc:spChg chg="mod">
          <ac:chgData name="Vladislavs Babaņins" userId="ed3b0c9c-be46-44ea-9335-bc3cc0fcdf88" providerId="ADAL" clId="{F6614888-F310-47FE-AEFC-BC32CE6C06D5}" dt="2026-10-06T20:53:59.456" v="11" actId="20577"/>
          <ac:spMkLst>
            <pc:docMk/>
            <pc:sldMk cId="3120769743" sldId="288"/>
            <ac:spMk id="2" creationId="{3AD54091-78FD-D4FE-FF74-0E1F7A70CB36}"/>
          </ac:spMkLst>
        </pc:spChg>
      </pc:sldChg>
      <pc:sldChg chg="modSp mod">
        <pc:chgData name="Vladislavs Babaņins" userId="ed3b0c9c-be46-44ea-9335-bc3cc0fcdf88" providerId="ADAL" clId="{F6614888-F310-47FE-AEFC-BC32CE6C06D5}" dt="2026-10-06T20:54:22.925" v="13" actId="20577"/>
        <pc:sldMkLst>
          <pc:docMk/>
          <pc:sldMk cId="3038219825" sldId="300"/>
        </pc:sldMkLst>
        <pc:spChg chg="mod">
          <ac:chgData name="Vladislavs Babaņins" userId="ed3b0c9c-be46-44ea-9335-bc3cc0fcdf88" providerId="ADAL" clId="{F6614888-F310-47FE-AEFC-BC32CE6C06D5}" dt="2026-10-06T20:54:22.925" v="13" actId="20577"/>
          <ac:spMkLst>
            <pc:docMk/>
            <pc:sldMk cId="3038219825" sldId="300"/>
            <ac:spMk id="2" creationId="{D57236DA-8034-1ECC-B26A-EE2EDE65B19A}"/>
          </ac:spMkLst>
        </pc:spChg>
      </pc:sldChg>
      <pc:sldChg chg="modSp">
        <pc:chgData name="Vladislavs Babaņins" userId="ed3b0c9c-be46-44ea-9335-bc3cc0fcdf88" providerId="ADAL" clId="{F6614888-F310-47FE-AEFC-BC32CE6C06D5}" dt="2026-10-06T20:49:13.628" v="4"/>
        <pc:sldMkLst>
          <pc:docMk/>
          <pc:sldMk cId="3348445166" sldId="302"/>
        </pc:sldMkLst>
        <pc:spChg chg="mod">
          <ac:chgData name="Vladislavs Babaņins" userId="ed3b0c9c-be46-44ea-9335-bc3cc0fcdf88" providerId="ADAL" clId="{F6614888-F310-47FE-AEFC-BC32CE6C06D5}" dt="2026-10-06T20:49:13.628" v="4"/>
          <ac:spMkLst>
            <pc:docMk/>
            <pc:sldMk cId="3348445166" sldId="302"/>
            <ac:spMk id="2" creationId="{4F24F42A-E63D-353F-DB33-FC9A9249C3A9}"/>
          </ac:spMkLst>
        </pc:spChg>
      </pc:sldChg>
      <pc:sldChg chg="modSp">
        <pc:chgData name="Vladislavs Babaņins" userId="ed3b0c9c-be46-44ea-9335-bc3cc0fcdf88" providerId="ADAL" clId="{F6614888-F310-47FE-AEFC-BC32CE6C06D5}" dt="2026-10-06T20:49:20.200" v="5"/>
        <pc:sldMkLst>
          <pc:docMk/>
          <pc:sldMk cId="559527082" sldId="303"/>
        </pc:sldMkLst>
        <pc:spChg chg="mod">
          <ac:chgData name="Vladislavs Babaņins" userId="ed3b0c9c-be46-44ea-9335-bc3cc0fcdf88" providerId="ADAL" clId="{F6614888-F310-47FE-AEFC-BC32CE6C06D5}" dt="2026-10-06T20:49:20.200" v="5"/>
          <ac:spMkLst>
            <pc:docMk/>
            <pc:sldMk cId="559527082" sldId="303"/>
            <ac:spMk id="2" creationId="{97AB933C-1ECB-A7AA-6875-54BF1536C290}"/>
          </ac:spMkLst>
        </pc:spChg>
      </pc:sldChg>
      <pc:sldChg chg="modSp">
        <pc:chgData name="Vladislavs Babaņins" userId="ed3b0c9c-be46-44ea-9335-bc3cc0fcdf88" providerId="ADAL" clId="{F6614888-F310-47FE-AEFC-BC32CE6C06D5}" dt="2026-10-06T20:49:29.297" v="7"/>
        <pc:sldMkLst>
          <pc:docMk/>
          <pc:sldMk cId="3956069038" sldId="304"/>
        </pc:sldMkLst>
        <pc:spChg chg="mod">
          <ac:chgData name="Vladislavs Babaņins" userId="ed3b0c9c-be46-44ea-9335-bc3cc0fcdf88" providerId="ADAL" clId="{F6614888-F310-47FE-AEFC-BC32CE6C06D5}" dt="2026-10-06T20:49:29.297" v="7"/>
          <ac:spMkLst>
            <pc:docMk/>
            <pc:sldMk cId="3956069038" sldId="304"/>
            <ac:spMk id="2" creationId="{2C3D397A-26D4-AC98-6E59-DE90DFBCEC01}"/>
          </ac:spMkLst>
        </pc:spChg>
      </pc:sldChg>
      <pc:sldChg chg="modSp">
        <pc:chgData name="Vladislavs Babaņins" userId="ed3b0c9c-be46-44ea-9335-bc3cc0fcdf88" providerId="ADAL" clId="{F6614888-F310-47FE-AEFC-BC32CE6C06D5}" dt="2026-10-06T20:49:36.848" v="8"/>
        <pc:sldMkLst>
          <pc:docMk/>
          <pc:sldMk cId="1177708732" sldId="305"/>
        </pc:sldMkLst>
        <pc:spChg chg="mod">
          <ac:chgData name="Vladislavs Babaņins" userId="ed3b0c9c-be46-44ea-9335-bc3cc0fcdf88" providerId="ADAL" clId="{F6614888-F310-47FE-AEFC-BC32CE6C06D5}" dt="2026-10-06T20:49:36.848" v="8"/>
          <ac:spMkLst>
            <pc:docMk/>
            <pc:sldMk cId="1177708732" sldId="305"/>
            <ac:spMk id="2" creationId="{BEE2C447-D0C9-C83D-B2BB-324C4D9CE57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v-LV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D5DCD-5312-460A-BA04-9E76BE224BF0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v-LV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7E8567-D3D0-409F-8D51-005215BA60C6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232982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E8567-D3D0-409F-8D51-005215BA60C6}" type="slidenum">
              <a:rPr lang="lv-LV" smtClean="0"/>
              <a:t>5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859895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855EB-B920-D76E-CB51-8FE2A218F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F2A48-29E2-56BA-57CD-3FD3CA9FA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v-LV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02750-1F5A-50E9-6840-F60D60222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E8725-3E14-433E-AD0E-C9A16750CEA3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30F8F-3E29-E7A9-125F-45BE3FE7E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B4BA3-4268-D8B1-3CD4-A9C148C0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0C78C-A8D7-4DD7-87A2-23771FAA9580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169621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E0DC0-7D4E-BAD8-1F75-205801EA1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E82B0-E893-E40C-C1E7-05A513A6F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4356F-F002-89F1-8404-2A47C3045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E8725-3E14-433E-AD0E-C9A16750CEA3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A2321-3EC9-9497-DC3D-A9850F4FA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43A61-579D-4E78-1DC8-426A283F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0C78C-A8D7-4DD7-87A2-23771FAA9580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86878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F2F8D-1945-FC4A-27C1-800C8677B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3C6D4-261F-DF35-1B6E-8397746CB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8FAAF-072B-1998-7158-7BC24DBA5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E8725-3E14-433E-AD0E-C9A16750CEA3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10135-DB0A-6C3B-4F90-674EF254E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232C9-E47A-9047-BD56-F42B9A8E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0C78C-A8D7-4DD7-87A2-23771FAA9580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239614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4C5FA-D395-2A83-5146-92A9A5653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DBB95-D088-40C6-EF73-84E5EBA3B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9D5BA-D860-0F11-A01A-78156D45A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25738-C186-0F59-4C5A-D86CDBCAA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E8725-3E14-433E-AD0E-C9A16750CEA3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B8248-D0F9-F4D5-80BC-365B24AD3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06D0E-2329-D8BF-38DA-497AE4AC8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0C78C-A8D7-4DD7-87A2-23771FAA9580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285643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0322-0079-AC57-F823-ABCAC17D6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286E6-2C73-F798-396D-67FFE2B5C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478D5-6415-4887-407D-D4734F7C6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AC85C8-AEB3-A584-66D0-EB20A133E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8E5E61-89DD-2015-E507-E5D7A49DE9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B8F7AB-46DE-332A-E219-038260A68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E8725-3E14-433E-AD0E-C9A16750CEA3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C135D3-CEBE-E8CC-9DB5-71AA7526B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031809-F5EA-A972-88DD-9C5908E9C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0C78C-A8D7-4DD7-87A2-23771FAA9580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332181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1BD00-FCFC-E809-D7D3-50C7E5D39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07D423-6B1B-9681-0191-ED42D4F90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E8725-3E14-433E-AD0E-C9A16750CEA3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4EE1B-CC80-FA82-D715-3D5E0B493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F1D88-2781-A8E6-CE25-A62E7B5B2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0C78C-A8D7-4DD7-87A2-23771FAA9580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497235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0C01D0-6A63-F326-BDAE-06DA8FE55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E8725-3E14-433E-AD0E-C9A16750CEA3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E5FA1-1B73-88E5-43EA-FAA66879A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61664-2864-C029-2A98-9E071621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0C78C-A8D7-4DD7-87A2-23771FAA9580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716225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DC7B6-F146-38B5-B22E-DF691FA2B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90477-9BAD-A285-877D-8471F1D94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CB6FB-3E6C-976C-B52A-5BD2C1920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D3DFA-3960-1EF8-4076-C74D794A0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E8725-3E14-433E-AD0E-C9A16750CEA3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1033E-9165-AA85-CC06-661367302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97B8E-DD6A-1CEC-0ED3-E4AFBE6F2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0C78C-A8D7-4DD7-87A2-23771FAA9580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309976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432F-3D10-427C-D091-BE0C35354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613777-5E15-C87A-0416-26962BD014D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v-LV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4BA1A-3745-1E82-BA83-C87E7CD7D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386B2-75F4-48D3-4636-AD2CE49FB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E8725-3E14-433E-AD0E-C9A16750CEA3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7C4C9-C3EE-5AA4-954E-E2535B394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6BC0E-B145-335E-2A33-0800E8086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0C78C-A8D7-4DD7-87A2-23771FAA9580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226432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01BB9-07B3-7BED-8A43-2A565A901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2A12F-950A-BDA7-2877-BB6F84E6E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26771-6A8D-0591-0731-6EB55E3EE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E8725-3E14-433E-AD0E-C9A16750CEA3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B3407-07B2-1935-E8C1-124DD764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D07E2-30C3-F0C0-8D83-71166C53F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0C78C-A8D7-4DD7-87A2-23771FAA9580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087779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59D684-BE1A-6EC6-B0F4-B8FB79E07C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2C2D5-9805-8503-618F-C65CA6678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8BAD6-F0DD-CBD6-0E19-9460633D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E8725-3E14-433E-AD0E-C9A16750CEA3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B15B0-CE46-D3C1-1462-756F0742F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B139F-C93D-567B-9262-09A6BFB0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0C78C-A8D7-4DD7-87A2-23771FAA9580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440979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74E751-57AF-85E8-BE3D-8BE9A458B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9BCD3-D347-C3E7-731C-02E854E59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70420-BFD1-4875-1317-0DD8ACE50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2E8725-3E14-433E-AD0E-C9A16750CEA3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19DE2-57A5-71C6-6B09-A6299B35D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v-LV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3B960-1425-88A2-784D-76B93FEC7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F0C78C-A8D7-4DD7-87A2-23771FAA9580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378327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v-L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7A4CE-3C46-9CF2-24DC-E522910098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lv-LV" sz="6600" b="1" dirty="0" err="1"/>
              <a:t>AuraDB</a:t>
            </a:r>
            <a:r>
              <a:rPr lang="lv-LV" sz="6600" b="1" dirty="0"/>
              <a:t> </a:t>
            </a:r>
            <a:r>
              <a:rPr lang="lv-LV" sz="6600" b="1" dirty="0" err="1"/>
              <a:t>Knowledge</a:t>
            </a:r>
            <a:r>
              <a:rPr lang="lv-LV" sz="6600" b="1" dirty="0"/>
              <a:t> </a:t>
            </a:r>
            <a:r>
              <a:rPr lang="lv-LV" sz="6600" b="1" dirty="0" err="1"/>
              <a:t>Graph</a:t>
            </a:r>
            <a:r>
              <a:rPr lang="lv-LV" sz="6600" b="1" dirty="0"/>
              <a:t> </a:t>
            </a:r>
            <a:r>
              <a:rPr lang="lv-LV" sz="6600" b="1" dirty="0" err="1"/>
              <a:t>Creation</a:t>
            </a:r>
            <a:endParaRPr lang="lv-LV" sz="6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64DB5-9708-9276-8FC5-FECC13C81F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Vladislavs Babaņins</a:t>
            </a:r>
          </a:p>
        </p:txBody>
      </p:sp>
    </p:spTree>
    <p:extLst>
      <p:ext uri="{BB962C8B-B14F-4D97-AF65-F5344CB8AC3E}">
        <p14:creationId xmlns:p14="http://schemas.microsoft.com/office/powerpoint/2010/main" val="1643271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E0F0C-F9B5-55E7-BF01-AEF14800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4091-78FD-D4FE-FF74-0E1F7A70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53750" cy="1325563"/>
          </a:xfrm>
        </p:spPr>
        <p:txBody>
          <a:bodyPr>
            <a:noAutofit/>
          </a:bodyPr>
          <a:lstStyle/>
          <a:p>
            <a:r>
              <a:rPr lang="lv-LV" sz="3200" b="1" dirty="0" err="1"/>
              <a:t>Data</a:t>
            </a:r>
            <a:r>
              <a:rPr lang="lv-LV" sz="3200" b="1" dirty="0"/>
              <a:t> Import </a:t>
            </a:r>
            <a:r>
              <a:rPr lang="lv-LV" sz="3200" b="1" dirty="0" err="1"/>
              <a:t>and</a:t>
            </a:r>
            <a:r>
              <a:rPr lang="lv-LV" sz="3200" b="1" dirty="0"/>
              <a:t> </a:t>
            </a:r>
            <a:r>
              <a:rPr lang="lv-LV" sz="3200" b="1" dirty="0" err="1"/>
              <a:t>Schema</a:t>
            </a:r>
            <a:r>
              <a:rPr lang="lv-LV" sz="3200" b="1" dirty="0"/>
              <a:t> </a:t>
            </a:r>
            <a:r>
              <a:rPr lang="lv-LV" sz="3200" b="1" dirty="0" err="1"/>
              <a:t>Generation</a:t>
            </a:r>
            <a:r>
              <a:rPr lang="lv-LV" sz="3200" b="1" dirty="0"/>
              <a:t> </a:t>
            </a:r>
            <a:r>
              <a:rPr lang="lv-LV" sz="3200" b="1" dirty="0" err="1"/>
              <a:t>in</a:t>
            </a:r>
            <a:r>
              <a:rPr lang="lv-LV" sz="3200" b="1" dirty="0"/>
              <a:t> Neo4j </a:t>
            </a:r>
            <a:r>
              <a:rPr lang="lv-LV" sz="3200" b="1" dirty="0" err="1"/>
              <a:t>AuraDB</a:t>
            </a:r>
            <a:br>
              <a:rPr lang="ru-RU" sz="3200" dirty="0"/>
            </a:br>
            <a:r>
              <a:rPr lang="lv-LV" sz="3200" dirty="0"/>
              <a:t>1. </a:t>
            </a:r>
            <a:r>
              <a:rPr lang="lv-LV" sz="3200" dirty="0" err="1"/>
              <a:t>Imported</a:t>
            </a:r>
            <a:r>
              <a:rPr lang="lv-LV" sz="3200" dirty="0"/>
              <a:t> </a:t>
            </a:r>
            <a:r>
              <a:rPr lang="lv-LV" sz="3200" dirty="0" err="1"/>
              <a:t>node</a:t>
            </a:r>
            <a:r>
              <a:rPr lang="lv-LV" sz="3200" dirty="0"/>
              <a:t> </a:t>
            </a:r>
            <a:r>
              <a:rPr lang="lv-LV" sz="3200" dirty="0" err="1"/>
              <a:t>and</a:t>
            </a:r>
            <a:r>
              <a:rPr lang="lv-LV" sz="3200" dirty="0"/>
              <a:t> </a:t>
            </a:r>
            <a:r>
              <a:rPr lang="en-US" sz="3200" dirty="0"/>
              <a:t>edge</a:t>
            </a:r>
            <a:r>
              <a:rPr lang="lv-LV" sz="3200" dirty="0"/>
              <a:t> CSV </a:t>
            </a:r>
            <a:r>
              <a:rPr lang="lv-LV" sz="3200" dirty="0" err="1"/>
              <a:t>files</a:t>
            </a:r>
            <a:br>
              <a:rPr lang="lv-LV" sz="3200" dirty="0"/>
            </a:br>
            <a:r>
              <a:rPr lang="lv-LV" sz="3200" dirty="0"/>
              <a:t>2. </a:t>
            </a:r>
            <a:r>
              <a:rPr lang="lv-LV" sz="3200" dirty="0" err="1"/>
              <a:t>Generated</a:t>
            </a:r>
            <a:r>
              <a:rPr lang="lv-LV" sz="3200" dirty="0"/>
              <a:t> </a:t>
            </a:r>
            <a:r>
              <a:rPr lang="lv-LV" sz="3200" dirty="0" err="1"/>
              <a:t>the</a:t>
            </a:r>
            <a:r>
              <a:rPr lang="lv-LV" sz="3200" dirty="0"/>
              <a:t> </a:t>
            </a:r>
            <a:r>
              <a:rPr lang="lv-LV" sz="3200" dirty="0" err="1"/>
              <a:t>graph</a:t>
            </a:r>
            <a:r>
              <a:rPr lang="lv-LV" sz="3200" dirty="0"/>
              <a:t> </a:t>
            </a:r>
            <a:r>
              <a:rPr lang="lv-LV" sz="3200" dirty="0" err="1"/>
              <a:t>model</a:t>
            </a:r>
            <a:r>
              <a:rPr lang="lv-LV" sz="3200" dirty="0"/>
              <a:t> </a:t>
            </a:r>
            <a:r>
              <a:rPr lang="lv-LV" sz="3200" dirty="0" err="1"/>
              <a:t>using</a:t>
            </a:r>
            <a:r>
              <a:rPr lang="lv-LV" sz="3200" dirty="0"/>
              <a:t> Neo4j </a:t>
            </a:r>
            <a:r>
              <a:rPr lang="lv-LV" sz="3200" dirty="0" err="1"/>
              <a:t>Aura's</a:t>
            </a:r>
            <a:r>
              <a:rPr lang="lv-LV" sz="3200" dirty="0"/>
              <a:t> </a:t>
            </a:r>
            <a:r>
              <a:rPr lang="lv-LV" sz="3200" i="1" dirty="0" err="1"/>
              <a:t>Generate</a:t>
            </a:r>
            <a:r>
              <a:rPr lang="lv-LV" sz="3200" i="1" dirty="0"/>
              <a:t> </a:t>
            </a:r>
            <a:r>
              <a:rPr lang="lv-LV" sz="3200" i="1" dirty="0" err="1"/>
              <a:t>with</a:t>
            </a:r>
            <a:r>
              <a:rPr lang="lv-LV" sz="3200" i="1" dirty="0"/>
              <a:t> 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DFF549-BB0B-EA1F-2F48-F9DE897ED8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94"/>
          <a:stretch>
            <a:fillRect/>
          </a:stretch>
        </p:blipFill>
        <p:spPr>
          <a:xfrm>
            <a:off x="266388" y="1948542"/>
            <a:ext cx="11659224" cy="490945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4CC1A7-A571-5C41-10CC-AD0BE81EC0F6}"/>
              </a:ext>
            </a:extLst>
          </p:cNvPr>
          <p:cNvSpPr/>
          <p:nvPr/>
        </p:nvSpPr>
        <p:spPr>
          <a:xfrm>
            <a:off x="4813301" y="4430790"/>
            <a:ext cx="2959100" cy="137578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120769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7BE5F-6B43-71CB-BA9C-EA0009381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6D072189-BA53-0FE3-C5C5-99FA5F50833D}"/>
              </a:ext>
            </a:extLst>
          </p:cNvPr>
          <p:cNvSpPr/>
          <p:nvPr/>
        </p:nvSpPr>
        <p:spPr>
          <a:xfrm>
            <a:off x="838200" y="3864737"/>
            <a:ext cx="4133849" cy="2014854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C25C94-C066-06D8-7945-C7DFEFB34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graph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B408D-5042-3B45-E73F-8DCB22043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414" y="1679576"/>
            <a:ext cx="5982127" cy="4194366"/>
          </a:xfrm>
          <a:prstGeom prst="rect">
            <a:avLst/>
          </a:prstGeom>
        </p:spPr>
      </p:pic>
      <p:sp>
        <p:nvSpPr>
          <p:cNvPr id="16" name="Shape 4">
            <a:extLst>
              <a:ext uri="{FF2B5EF4-FFF2-40B4-BE49-F238E27FC236}">
                <a16:creationId xmlns:a16="http://schemas.microsoft.com/office/drawing/2014/main" id="{2319B1FE-7040-8B5C-3D07-06B368A18328}"/>
              </a:ext>
            </a:extLst>
          </p:cNvPr>
          <p:cNvSpPr/>
          <p:nvPr/>
        </p:nvSpPr>
        <p:spPr>
          <a:xfrm>
            <a:off x="838201" y="1679576"/>
            <a:ext cx="4133849" cy="2014854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B4A79E81-4240-E840-B5DD-F11EC37A6494}"/>
              </a:ext>
            </a:extLst>
          </p:cNvPr>
          <p:cNvSpPr/>
          <p:nvPr/>
        </p:nvSpPr>
        <p:spPr>
          <a:xfrm>
            <a:off x="993942" y="1743584"/>
            <a:ext cx="2622766" cy="1886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lv-LV" sz="2000" dirty="0" err="1"/>
              <a:t>Node</a:t>
            </a:r>
            <a:r>
              <a:rPr lang="lv-LV" sz="2000" dirty="0"/>
              <a:t> </a:t>
            </a:r>
            <a:r>
              <a:rPr lang="lv-LV" sz="2000" dirty="0" err="1"/>
              <a:t>labels</a:t>
            </a:r>
            <a:r>
              <a:rPr lang="en-US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D2939"/>
                </a:solidFill>
              </a:rPr>
              <a:t>StudyProgram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D2939"/>
                </a:solidFill>
              </a:rPr>
              <a:t>Course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D2939"/>
                </a:solidFill>
              </a:rPr>
              <a:t>Topic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D2939"/>
                </a:solidFill>
              </a:rPr>
              <a:t>LearningOutcome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D2939"/>
                </a:solidFill>
              </a:rPr>
              <a:t>StudyField</a:t>
            </a:r>
            <a:endParaRPr lang="en-US" sz="20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B18187A6-8480-69A8-2A23-126D954492E2}"/>
              </a:ext>
            </a:extLst>
          </p:cNvPr>
          <p:cNvSpPr/>
          <p:nvPr/>
        </p:nvSpPr>
        <p:spPr>
          <a:xfrm>
            <a:off x="993942" y="4051267"/>
            <a:ext cx="269715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D2939"/>
                </a:solidFill>
              </a:rPr>
              <a:t>Relationship types:</a:t>
            </a:r>
            <a:endParaRPr lang="ru-RU" sz="2000" dirty="0">
              <a:solidFill>
                <a:srgbClr val="1D2939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D2939"/>
                </a:solidFill>
              </a:rPr>
              <a:t>HAS_COURSE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D2939"/>
                </a:solidFill>
              </a:rPr>
              <a:t>HAS_TOPIC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D2939"/>
                </a:solidFill>
              </a:rPr>
              <a:t>HAS_OUTCOME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D2939"/>
                </a:solidFill>
              </a:rPr>
              <a:t>HAS_STUDY_FIELD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74061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94C83-5EFD-47D4-562A-9301A6053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1D6C17-3092-CD7A-1874-AE2E224AD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76894"/>
            <a:ext cx="5087855" cy="42694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B5CE8C-EF27-86A0-55C1-530A8DBB0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00" y="1576894"/>
            <a:ext cx="3862801" cy="51003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EB37AB-85B8-80B0-FF17-0CB8E8D7ECB7}"/>
              </a:ext>
            </a:extLst>
          </p:cNvPr>
          <p:cNvSpPr txBox="1"/>
          <p:nvPr/>
        </p:nvSpPr>
        <p:spPr>
          <a:xfrm>
            <a:off x="570700" y="441965"/>
            <a:ext cx="9462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v-LV" sz="3600" b="1" dirty="0" err="1">
                <a:latin typeface="Aptos Display (Headings)"/>
              </a:rPr>
              <a:t>Schema</a:t>
            </a:r>
            <a:r>
              <a:rPr lang="lv-LV" sz="3600" b="1" dirty="0">
                <a:latin typeface="Aptos Display (Headings)"/>
              </a:rPr>
              <a:t> </a:t>
            </a:r>
            <a:r>
              <a:rPr lang="lv-LV" sz="3600" b="1" dirty="0" err="1">
                <a:latin typeface="Aptos Display (Headings)"/>
              </a:rPr>
              <a:t>Verification</a:t>
            </a:r>
            <a:r>
              <a:rPr lang="lv-LV" sz="3600" b="1" dirty="0">
                <a:latin typeface="Aptos Display (Headings)"/>
              </a:rPr>
              <a:t> </a:t>
            </a:r>
            <a:r>
              <a:rPr lang="lv-LV" sz="3600" b="1" dirty="0" err="1">
                <a:latin typeface="Aptos Display (Headings)"/>
              </a:rPr>
              <a:t>in</a:t>
            </a:r>
            <a:r>
              <a:rPr lang="lv-LV" sz="3600" b="1" dirty="0">
                <a:latin typeface="Aptos Display (Headings)"/>
              </a:rPr>
              <a:t> Neo4j </a:t>
            </a:r>
            <a:r>
              <a:rPr lang="lv-LV" sz="3600" b="1" dirty="0" err="1">
                <a:latin typeface="Aptos Display (Headings)"/>
              </a:rPr>
              <a:t>AuraDB</a:t>
            </a:r>
            <a:endParaRPr lang="lv-LV" sz="3600" b="1" dirty="0">
              <a:latin typeface="Aptos Display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2144261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B6ED0-D392-D42C-72C1-31A8994B8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236DA-8034-1ECC-B26A-EE2EDE65B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lv-LV" sz="3600" b="1" dirty="0" err="1"/>
              <a:t>Graph</a:t>
            </a:r>
            <a:r>
              <a:rPr lang="lv-LV" sz="3600" b="1" dirty="0"/>
              <a:t> </a:t>
            </a:r>
            <a:r>
              <a:rPr lang="lv-LV" sz="3600" b="1" dirty="0" err="1"/>
              <a:t>Schema</a:t>
            </a:r>
            <a:r>
              <a:rPr lang="lv-LV" sz="3600" b="1" dirty="0"/>
              <a:t> </a:t>
            </a:r>
            <a:r>
              <a:rPr lang="lv-LV" sz="3600" b="1" dirty="0" err="1"/>
              <a:t>Visualization</a:t>
            </a:r>
            <a:endParaRPr lang="lv-LV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05000-C05B-D910-18E9-CFC4ADC7B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lv-LV" dirty="0">
                <a:latin typeface="Consolas" panose="020B0609020204030204" pitchFamily="49" charset="0"/>
              </a:rPr>
              <a:t>CALL </a:t>
            </a:r>
            <a:r>
              <a:rPr lang="lv-LV" dirty="0" err="1">
                <a:latin typeface="Consolas" panose="020B0609020204030204" pitchFamily="49" charset="0"/>
              </a:rPr>
              <a:t>db.schema.visualization</a:t>
            </a:r>
            <a:r>
              <a:rPr lang="lv-LV" dirty="0"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CF73A-628B-E6AA-680E-7DC96BE81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517774"/>
            <a:ext cx="9163255" cy="411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219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435E8-3065-8EED-8E89-5C11607F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622CB9-8D3A-7058-FFFD-65B11A0ABC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0"/>
          <a:stretch>
            <a:fillRect/>
          </a:stretch>
        </p:blipFill>
        <p:spPr>
          <a:xfrm>
            <a:off x="5704114" y="1690688"/>
            <a:ext cx="6324599" cy="35694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C1E387-641A-05F6-3F95-ECAA1C1D1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lv-LV" sz="3200" b="1" dirty="0" err="1"/>
              <a:t>Query</a:t>
            </a:r>
            <a:r>
              <a:rPr lang="lv-LV" sz="3200" b="1" dirty="0"/>
              <a:t> 1: </a:t>
            </a:r>
            <a:r>
              <a:rPr lang="lv-LV" sz="3200" b="1" dirty="0" err="1"/>
              <a:t>Digital</a:t>
            </a:r>
            <a:r>
              <a:rPr lang="lv-LV" sz="3200" b="1" dirty="0"/>
              <a:t> </a:t>
            </a:r>
            <a:r>
              <a:rPr lang="lv-LV" sz="3200" b="1" dirty="0" err="1"/>
              <a:t>Humanities</a:t>
            </a:r>
            <a:r>
              <a:rPr lang="lv-LV" sz="3200" b="1" dirty="0"/>
              <a:t> </a:t>
            </a:r>
            <a:r>
              <a:rPr lang="lv-LV" sz="3200" b="1" dirty="0" err="1"/>
              <a:t>Courses</a:t>
            </a:r>
            <a:endParaRPr lang="lv-LV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5E2F7B-FE40-08A1-70B6-D5E4CA41F7CA}"/>
              </a:ext>
            </a:extLst>
          </p:cNvPr>
          <p:cNvSpPr/>
          <p:nvPr/>
        </p:nvSpPr>
        <p:spPr>
          <a:xfrm>
            <a:off x="729344" y="1690688"/>
            <a:ext cx="4865914" cy="266359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58F67-5CD0-75EF-A2DA-6C228E2590DE}"/>
              </a:ext>
            </a:extLst>
          </p:cNvPr>
          <p:cNvSpPr txBox="1"/>
          <p:nvPr/>
        </p:nvSpPr>
        <p:spPr>
          <a:xfrm>
            <a:off x="894460" y="1796743"/>
            <a:ext cx="4602827" cy="205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7283B"/>
                </a:solidFill>
                <a:latin typeface="Consolas"/>
              </a:defRPr>
            </a:pPr>
            <a:r>
              <a:rPr lang="en-US" dirty="0"/>
              <a:t>MATCH (</a:t>
            </a:r>
            <a:r>
              <a:rPr lang="en-US" dirty="0" err="1"/>
              <a:t>p:StudyProgram</a:t>
            </a:r>
            <a:r>
              <a:rPr lang="en-US" dirty="0"/>
              <a:t>)-[:HAS_COURSE]-&gt;(</a:t>
            </a:r>
            <a:r>
              <a:rPr lang="en-US" dirty="0" err="1"/>
              <a:t>c:Course</a:t>
            </a:r>
            <a:r>
              <a:rPr lang="en-US" dirty="0"/>
              <a:t>)</a:t>
            </a:r>
          </a:p>
          <a:p>
            <a:pPr>
              <a:spcAft>
                <a:spcPts val="200"/>
              </a:spcAft>
              <a:defRPr sz="1700" b="0">
                <a:solidFill>
                  <a:srgbClr val="17283B"/>
                </a:solidFill>
                <a:latin typeface="Consolas"/>
              </a:defRPr>
            </a:pPr>
            <a:r>
              <a:rPr lang="en-US" dirty="0"/>
              <a:t>WHERE </a:t>
            </a:r>
            <a:r>
              <a:rPr lang="en-US" dirty="0" err="1"/>
              <a:t>p.title</a:t>
            </a:r>
            <a:r>
              <a:rPr lang="en-US" dirty="0"/>
              <a:t> = "Digital Humanities"</a:t>
            </a:r>
          </a:p>
          <a:p>
            <a:pPr>
              <a:spcAft>
                <a:spcPts val="200"/>
              </a:spcAft>
              <a:defRPr sz="1700" b="0">
                <a:solidFill>
                  <a:srgbClr val="17283B"/>
                </a:solidFill>
                <a:latin typeface="Consolas"/>
              </a:defRPr>
            </a:pPr>
            <a:r>
              <a:rPr lang="en-US" dirty="0"/>
              <a:t>RETURN </a:t>
            </a:r>
            <a:r>
              <a:rPr lang="en-US" dirty="0" err="1"/>
              <a:t>c.courseId</a:t>
            </a:r>
            <a:r>
              <a:rPr lang="en-US" dirty="0"/>
              <a:t> AS </a:t>
            </a:r>
            <a:r>
              <a:rPr lang="en-US" dirty="0" err="1"/>
              <a:t>course_id</a:t>
            </a:r>
            <a:r>
              <a:rPr lang="en-US" dirty="0"/>
              <a:t>,</a:t>
            </a:r>
          </a:p>
          <a:p>
            <a:pPr>
              <a:spcAft>
                <a:spcPts val="200"/>
              </a:spcAft>
              <a:defRPr sz="1700" b="0">
                <a:solidFill>
                  <a:srgbClr val="17283B"/>
                </a:solidFill>
                <a:latin typeface="Consolas"/>
              </a:defRPr>
            </a:pPr>
            <a:r>
              <a:rPr lang="en-US" dirty="0" err="1"/>
              <a:t>c.title</a:t>
            </a:r>
            <a:r>
              <a:rPr lang="en-US" dirty="0"/>
              <a:t> AS course,</a:t>
            </a:r>
          </a:p>
          <a:p>
            <a:pPr>
              <a:spcAft>
                <a:spcPts val="200"/>
              </a:spcAft>
              <a:defRPr sz="1700" b="0">
                <a:solidFill>
                  <a:srgbClr val="17283B"/>
                </a:solidFill>
                <a:latin typeface="Consolas"/>
              </a:defRPr>
            </a:pPr>
            <a:r>
              <a:rPr lang="en-US" dirty="0" err="1"/>
              <a:t>c.creditPoints</a:t>
            </a:r>
            <a:r>
              <a:rPr lang="en-US" dirty="0"/>
              <a:t> AS </a:t>
            </a:r>
            <a:r>
              <a:rPr lang="en-US" dirty="0" err="1"/>
              <a:t>credit_points</a:t>
            </a:r>
            <a:endParaRPr lang="en-US" dirty="0"/>
          </a:p>
          <a:p>
            <a:pPr>
              <a:spcAft>
                <a:spcPts val="200"/>
              </a:spcAft>
              <a:defRPr sz="1700" b="0">
                <a:solidFill>
                  <a:srgbClr val="17283B"/>
                </a:solidFill>
                <a:latin typeface="Consolas"/>
              </a:defRPr>
            </a:pPr>
            <a:r>
              <a:rPr lang="en-US" dirty="0"/>
              <a:t>ORDER BY </a:t>
            </a:r>
            <a:r>
              <a:rPr lang="en-US" dirty="0" err="1"/>
              <a:t>c.title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50506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5FFA-8D18-4D35-3259-9DEC0978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98F15-6013-A2D0-4882-2E3986AD9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1200" cy="1325563"/>
          </a:xfrm>
        </p:spPr>
        <p:txBody>
          <a:bodyPr>
            <a:normAutofit/>
          </a:bodyPr>
          <a:lstStyle/>
          <a:p>
            <a:pPr lvl="0"/>
            <a:r>
              <a:rPr lang="lv-LV" sz="3200" b="1" dirty="0" err="1"/>
              <a:t>Query</a:t>
            </a:r>
            <a:r>
              <a:rPr lang="lv-LV" sz="3200" b="1" dirty="0"/>
              <a:t> 2: </a:t>
            </a:r>
            <a:r>
              <a:rPr lang="lv-LV" sz="3200" b="1" dirty="0" err="1"/>
              <a:t>Courses</a:t>
            </a:r>
            <a:r>
              <a:rPr lang="lv-LV" sz="3200" b="1" dirty="0"/>
              <a:t> </a:t>
            </a:r>
            <a:r>
              <a:rPr lang="lv-LV" sz="3200" b="1" dirty="0" err="1"/>
              <a:t>Shared</a:t>
            </a:r>
            <a:r>
              <a:rPr lang="lv-LV" sz="3200" b="1" dirty="0"/>
              <a:t> </a:t>
            </a:r>
            <a:r>
              <a:rPr lang="lv-LV" sz="3200" b="1" dirty="0" err="1"/>
              <a:t>by</a:t>
            </a:r>
            <a:r>
              <a:rPr lang="lv-LV" sz="3200" b="1" dirty="0"/>
              <a:t> BI </a:t>
            </a:r>
            <a:r>
              <a:rPr lang="lv-LV" sz="3200" b="1" dirty="0" err="1"/>
              <a:t>and</a:t>
            </a:r>
            <a:r>
              <a:rPr lang="lv-LV" sz="3200" b="1" dirty="0"/>
              <a:t> DH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0B6A50-6D11-2598-1361-72372D0B2BC3}"/>
              </a:ext>
            </a:extLst>
          </p:cNvPr>
          <p:cNvSpPr/>
          <p:nvPr/>
        </p:nvSpPr>
        <p:spPr>
          <a:xfrm>
            <a:off x="729344" y="1690688"/>
            <a:ext cx="4865914" cy="266359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74EAFB-1263-BA6B-E722-363D2C4D608F}"/>
              </a:ext>
            </a:extLst>
          </p:cNvPr>
          <p:cNvSpPr txBox="1"/>
          <p:nvPr/>
        </p:nvSpPr>
        <p:spPr>
          <a:xfrm>
            <a:off x="894460" y="1796743"/>
            <a:ext cx="4602827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17283B"/>
                </a:solidFill>
                <a:latin typeface="Consolas"/>
              </a:defRPr>
            </a:pPr>
            <a:r>
              <a:rPr lang="en-US" sz="1700" dirty="0"/>
              <a:t>MATCH (</a:t>
            </a:r>
            <a:r>
              <a:rPr lang="en-US" sz="1700" dirty="0" err="1"/>
              <a:t>dh:StudyProgram</a:t>
            </a:r>
            <a:r>
              <a:rPr lang="en-US" sz="1700" dirty="0"/>
              <a:t>)-[:HAS_COURSE]-&gt;(</a:t>
            </a:r>
            <a:r>
              <a:rPr lang="en-US" sz="1700" dirty="0" err="1"/>
              <a:t>c:Course</a:t>
            </a:r>
            <a:r>
              <a:rPr lang="en-US" sz="1700" dirty="0"/>
              <a:t>)</a:t>
            </a:r>
          </a:p>
          <a:p>
            <a:pPr>
              <a:spcAft>
                <a:spcPts val="200"/>
              </a:spcAft>
              <a:defRPr sz="1600" b="0">
                <a:solidFill>
                  <a:srgbClr val="17283B"/>
                </a:solidFill>
                <a:latin typeface="Consolas"/>
              </a:defRPr>
            </a:pPr>
            <a:r>
              <a:rPr lang="en-US" sz="1700" dirty="0"/>
              <a:t>&lt;-[:HAS_COURSE]-(</a:t>
            </a:r>
            <a:r>
              <a:rPr lang="en-US" sz="1700" dirty="0" err="1"/>
              <a:t>bi:StudyProgram</a:t>
            </a:r>
            <a:r>
              <a:rPr lang="en-US" sz="1700" dirty="0"/>
              <a:t>)</a:t>
            </a:r>
          </a:p>
          <a:p>
            <a:pPr>
              <a:spcAft>
                <a:spcPts val="200"/>
              </a:spcAft>
              <a:defRPr sz="1600" b="0">
                <a:solidFill>
                  <a:srgbClr val="17283B"/>
                </a:solidFill>
                <a:latin typeface="Consolas"/>
              </a:defRPr>
            </a:pPr>
            <a:r>
              <a:rPr lang="en-US" sz="1700" dirty="0"/>
              <a:t>WHERE </a:t>
            </a:r>
            <a:r>
              <a:rPr lang="en-US" sz="1700" dirty="0" err="1"/>
              <a:t>dh.title</a:t>
            </a:r>
            <a:r>
              <a:rPr lang="en-US" sz="1700" dirty="0"/>
              <a:t> = "Digital Humanities"</a:t>
            </a:r>
          </a:p>
          <a:p>
            <a:pPr>
              <a:spcAft>
                <a:spcPts val="200"/>
              </a:spcAft>
              <a:defRPr sz="1600" b="0">
                <a:solidFill>
                  <a:srgbClr val="17283B"/>
                </a:solidFill>
                <a:latin typeface="Consolas"/>
              </a:defRPr>
            </a:pPr>
            <a:r>
              <a:rPr lang="en-US" sz="1700" dirty="0"/>
              <a:t>AND </a:t>
            </a:r>
            <a:r>
              <a:rPr lang="en-US" sz="1700" dirty="0" err="1"/>
              <a:t>bi.title</a:t>
            </a:r>
            <a:r>
              <a:rPr lang="en-US" sz="1700" dirty="0"/>
              <a:t> = "Business Informatics"</a:t>
            </a:r>
          </a:p>
          <a:p>
            <a:pPr>
              <a:spcAft>
                <a:spcPts val="200"/>
              </a:spcAft>
              <a:defRPr sz="1600" b="0">
                <a:solidFill>
                  <a:srgbClr val="17283B"/>
                </a:solidFill>
                <a:latin typeface="Consolas"/>
              </a:defRPr>
            </a:pPr>
            <a:r>
              <a:rPr lang="en-US" sz="1700" dirty="0"/>
              <a:t>RETURN </a:t>
            </a:r>
            <a:r>
              <a:rPr lang="en-US" sz="1700" dirty="0" err="1"/>
              <a:t>c.courseId</a:t>
            </a:r>
            <a:r>
              <a:rPr lang="en-US" sz="1700" dirty="0"/>
              <a:t> AS </a:t>
            </a:r>
            <a:r>
              <a:rPr lang="en-US" sz="1700" dirty="0" err="1"/>
              <a:t>course_id</a:t>
            </a:r>
            <a:r>
              <a:rPr lang="en-US" sz="1700" dirty="0"/>
              <a:t>,</a:t>
            </a:r>
          </a:p>
          <a:p>
            <a:pPr>
              <a:spcAft>
                <a:spcPts val="200"/>
              </a:spcAft>
              <a:defRPr sz="1600" b="0">
                <a:solidFill>
                  <a:srgbClr val="17283B"/>
                </a:solidFill>
                <a:latin typeface="Consolas"/>
              </a:defRPr>
            </a:pPr>
            <a:r>
              <a:rPr lang="en-US" sz="1700" dirty="0" err="1"/>
              <a:t>c.title</a:t>
            </a:r>
            <a:r>
              <a:rPr lang="en-US" sz="1700" dirty="0"/>
              <a:t> AS </a:t>
            </a:r>
            <a:r>
              <a:rPr lang="en-US" sz="1700" dirty="0" err="1"/>
              <a:t>shared_course</a:t>
            </a:r>
            <a:endParaRPr lang="en-US" sz="1700" dirty="0"/>
          </a:p>
          <a:p>
            <a:pPr>
              <a:spcAft>
                <a:spcPts val="200"/>
              </a:spcAft>
              <a:defRPr sz="1600" b="0">
                <a:solidFill>
                  <a:srgbClr val="17283B"/>
                </a:solidFill>
                <a:latin typeface="Consolas"/>
              </a:defRPr>
            </a:pPr>
            <a:r>
              <a:rPr lang="en-US" sz="1700" dirty="0"/>
              <a:t>ORDER BY </a:t>
            </a:r>
            <a:r>
              <a:rPr lang="en-US" sz="1700" dirty="0" err="1"/>
              <a:t>c.title</a:t>
            </a:r>
            <a:r>
              <a:rPr lang="en-US" sz="1700" dirty="0"/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9BCE6D-45AC-3535-BF82-BD9E62CEB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401" y="2055837"/>
            <a:ext cx="6236321" cy="198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927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2E0A6-8DB6-888A-7268-12FB3276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F42A-E63D-353F-DB33-FC9A9249C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1200" cy="1325563"/>
          </a:xfrm>
        </p:spPr>
        <p:txBody>
          <a:bodyPr>
            <a:normAutofit/>
          </a:bodyPr>
          <a:lstStyle/>
          <a:p>
            <a:r>
              <a:rPr lang="lv-LV" sz="3200" b="1" dirty="0" err="1"/>
              <a:t>Courses</a:t>
            </a:r>
            <a:r>
              <a:rPr lang="lv-LV" sz="3200" b="1" dirty="0"/>
              <a:t> </a:t>
            </a:r>
            <a:r>
              <a:rPr lang="lv-LV" sz="3200" b="1" dirty="0" err="1"/>
              <a:t>Shared</a:t>
            </a:r>
            <a:r>
              <a:rPr lang="lv-LV" sz="3200" b="1" dirty="0"/>
              <a:t> </a:t>
            </a:r>
            <a:r>
              <a:rPr lang="lv-LV" sz="3200" b="1" dirty="0" err="1"/>
              <a:t>by</a:t>
            </a:r>
            <a:r>
              <a:rPr lang="lv-LV" sz="3200" b="1" dirty="0"/>
              <a:t> BI </a:t>
            </a:r>
            <a:r>
              <a:rPr lang="lv-LV" sz="3200" b="1" dirty="0" err="1"/>
              <a:t>and</a:t>
            </a:r>
            <a:r>
              <a:rPr lang="lv-LV" sz="3200" b="1" dirty="0"/>
              <a:t> DH</a:t>
            </a:r>
            <a:r>
              <a:rPr lang="ru-RU" sz="3200" b="1" dirty="0"/>
              <a:t> </a:t>
            </a:r>
            <a:r>
              <a:rPr lang="en-US" sz="3200" b="1" dirty="0"/>
              <a:t>(</a:t>
            </a:r>
            <a:r>
              <a:rPr lang="lv-LV" sz="3200" b="1" dirty="0" err="1"/>
              <a:t>Graph</a:t>
            </a:r>
            <a:r>
              <a:rPr lang="lv-LV" sz="3200" b="1" dirty="0"/>
              <a:t> </a:t>
            </a:r>
            <a:r>
              <a:rPr lang="lv-LV" sz="3200" b="1" dirty="0" err="1"/>
              <a:t>View</a:t>
            </a:r>
            <a:r>
              <a:rPr lang="en-US" sz="3200" b="1" dirty="0"/>
              <a:t>)</a:t>
            </a:r>
            <a:endParaRPr lang="lv-LV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85DFE-921A-7EB7-4DB1-D15281E498C2}"/>
              </a:ext>
            </a:extLst>
          </p:cNvPr>
          <p:cNvSpPr/>
          <p:nvPr/>
        </p:nvSpPr>
        <p:spPr>
          <a:xfrm>
            <a:off x="729344" y="1690688"/>
            <a:ext cx="4865914" cy="266359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7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5C1B9A-F50B-56CB-333F-28B6DE3C913C}"/>
              </a:ext>
            </a:extLst>
          </p:cNvPr>
          <p:cNvSpPr txBox="1"/>
          <p:nvPr/>
        </p:nvSpPr>
        <p:spPr>
          <a:xfrm>
            <a:off x="894460" y="1796743"/>
            <a:ext cx="4602827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dirty="0">
                <a:latin typeface="Consolas" panose="020B0609020204030204" pitchFamily="49" charset="0"/>
              </a:rPr>
              <a:t>MATCH (</a:t>
            </a:r>
            <a:r>
              <a:rPr lang="en-US" sz="1700" dirty="0" err="1">
                <a:latin typeface="Consolas" panose="020B0609020204030204" pitchFamily="49" charset="0"/>
              </a:rPr>
              <a:t>dh:StudyProgram</a:t>
            </a:r>
            <a:r>
              <a:rPr lang="en-US" sz="1700" dirty="0">
                <a:latin typeface="Consolas" panose="020B0609020204030204" pitchFamily="49" charset="0"/>
              </a:rPr>
              <a:t>)-[r1:HAS_COURSE]-&gt;(</a:t>
            </a:r>
            <a:r>
              <a:rPr lang="en-US" sz="1700" dirty="0" err="1">
                <a:latin typeface="Consolas" panose="020B0609020204030204" pitchFamily="49" charset="0"/>
              </a:rPr>
              <a:t>c:Course</a:t>
            </a:r>
            <a:r>
              <a:rPr lang="en-US" sz="17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&lt;-[r2:HAS_COURSE]-(</a:t>
            </a:r>
            <a:r>
              <a:rPr lang="en-US" sz="1700" dirty="0" err="1">
                <a:latin typeface="Consolas" panose="020B0609020204030204" pitchFamily="49" charset="0"/>
              </a:rPr>
              <a:t>bi:StudyProgram</a:t>
            </a:r>
            <a:r>
              <a:rPr lang="en-US" sz="17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WHERE </a:t>
            </a:r>
            <a:r>
              <a:rPr lang="en-US" sz="1700" dirty="0" err="1">
                <a:latin typeface="Consolas" panose="020B0609020204030204" pitchFamily="49" charset="0"/>
              </a:rPr>
              <a:t>dh.title</a:t>
            </a:r>
            <a:r>
              <a:rPr lang="en-US" sz="1700" dirty="0">
                <a:latin typeface="Consolas" panose="020B0609020204030204" pitchFamily="49" charset="0"/>
              </a:rPr>
              <a:t> = "Digital Humanities"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AND </a:t>
            </a:r>
            <a:r>
              <a:rPr lang="en-US" sz="1700" dirty="0" err="1">
                <a:latin typeface="Consolas" panose="020B0609020204030204" pitchFamily="49" charset="0"/>
              </a:rPr>
              <a:t>bi.title</a:t>
            </a:r>
            <a:r>
              <a:rPr lang="en-US" sz="1700" dirty="0">
                <a:latin typeface="Consolas" panose="020B0609020204030204" pitchFamily="49" charset="0"/>
              </a:rPr>
              <a:t> = "Business Informatics"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RETURN dh, r1, c, r2, bi;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FB34CA-432B-5758-22A5-D886C9FB8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616" y="1690688"/>
            <a:ext cx="6425710" cy="417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445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135A6-6C10-F421-0BF4-ABD29E22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B933C-1ECB-A7AA-6875-54BF1536C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1200" cy="1325563"/>
          </a:xfrm>
        </p:spPr>
        <p:txBody>
          <a:bodyPr>
            <a:normAutofit/>
          </a:bodyPr>
          <a:lstStyle/>
          <a:p>
            <a:pPr lvl="0"/>
            <a:r>
              <a:rPr lang="lv-LV" sz="3200" b="1" dirty="0" err="1"/>
              <a:t>Query</a:t>
            </a:r>
            <a:r>
              <a:rPr lang="lv-LV" sz="3200" b="1" dirty="0"/>
              <a:t> 3: </a:t>
            </a:r>
            <a:r>
              <a:rPr lang="lv-LV" sz="3200" b="1" dirty="0" err="1"/>
              <a:t>Courses</a:t>
            </a:r>
            <a:r>
              <a:rPr lang="lv-LV" sz="3200" b="1" dirty="0"/>
              <a:t> </a:t>
            </a:r>
            <a:r>
              <a:rPr lang="lv-LV" sz="3200" b="1" dirty="0" err="1"/>
              <a:t>and</a:t>
            </a:r>
            <a:r>
              <a:rPr lang="lv-LV" sz="3200" b="1" dirty="0"/>
              <a:t> </a:t>
            </a:r>
            <a:r>
              <a:rPr lang="lv-LV" sz="3200" b="1" dirty="0" err="1"/>
              <a:t>Credits</a:t>
            </a:r>
            <a:r>
              <a:rPr lang="lv-LV" sz="3200" b="1" dirty="0"/>
              <a:t> </a:t>
            </a:r>
            <a:r>
              <a:rPr lang="lv-LV" sz="3200" b="1" dirty="0" err="1"/>
              <a:t>by</a:t>
            </a:r>
            <a:r>
              <a:rPr lang="lv-LV" sz="3200" b="1" dirty="0"/>
              <a:t> </a:t>
            </a:r>
            <a:r>
              <a:rPr lang="lv-LV" sz="3200" b="1" dirty="0" err="1"/>
              <a:t>Programme</a:t>
            </a:r>
            <a:endParaRPr lang="lv-LV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8E429C-3EC1-4171-386D-6BE2646CF1D6}"/>
              </a:ext>
            </a:extLst>
          </p:cNvPr>
          <p:cNvSpPr/>
          <p:nvPr/>
        </p:nvSpPr>
        <p:spPr>
          <a:xfrm>
            <a:off x="729344" y="1690688"/>
            <a:ext cx="4865914" cy="2271712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7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137DA8-B50F-017F-021C-CED1C40F838B}"/>
              </a:ext>
            </a:extLst>
          </p:cNvPr>
          <p:cNvSpPr txBox="1"/>
          <p:nvPr/>
        </p:nvSpPr>
        <p:spPr>
          <a:xfrm>
            <a:off x="894460" y="1796743"/>
            <a:ext cx="4602827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v-LV" sz="1700" dirty="0">
                <a:latin typeface="Consolas" panose="020B0609020204030204" pitchFamily="49" charset="0"/>
              </a:rPr>
              <a:t>MATCH (</a:t>
            </a:r>
            <a:r>
              <a:rPr lang="lv-LV" sz="1700" dirty="0" err="1">
                <a:latin typeface="Consolas" panose="020B0609020204030204" pitchFamily="49" charset="0"/>
              </a:rPr>
              <a:t>p:StudyProgram</a:t>
            </a:r>
            <a:r>
              <a:rPr lang="lv-LV" sz="1700" dirty="0">
                <a:latin typeface="Consolas" panose="020B0609020204030204" pitchFamily="49" charset="0"/>
              </a:rPr>
              <a:t>)-[</a:t>
            </a:r>
            <a:r>
              <a:rPr lang="lv-LV" sz="1700" dirty="0" err="1">
                <a:latin typeface="Consolas" panose="020B0609020204030204" pitchFamily="49" charset="0"/>
              </a:rPr>
              <a:t>r:HAS_COURSE</a:t>
            </a:r>
            <a:r>
              <a:rPr lang="lv-LV" sz="1700" dirty="0">
                <a:latin typeface="Consolas" panose="020B0609020204030204" pitchFamily="49" charset="0"/>
              </a:rPr>
              <a:t>]-&gt;(</a:t>
            </a:r>
            <a:r>
              <a:rPr lang="lv-LV" sz="1700" dirty="0" err="1">
                <a:latin typeface="Consolas" panose="020B0609020204030204" pitchFamily="49" charset="0"/>
              </a:rPr>
              <a:t>c:Course</a:t>
            </a:r>
            <a:r>
              <a:rPr lang="lv-LV" sz="1700" dirty="0">
                <a:latin typeface="Consolas" panose="020B0609020204030204" pitchFamily="49" charset="0"/>
              </a:rPr>
              <a:t>)</a:t>
            </a:r>
          </a:p>
          <a:p>
            <a:r>
              <a:rPr lang="lv-LV" sz="1700" dirty="0">
                <a:latin typeface="Consolas" panose="020B0609020204030204" pitchFamily="49" charset="0"/>
              </a:rPr>
              <a:t>RETURN </a:t>
            </a:r>
            <a:r>
              <a:rPr lang="lv-LV" sz="1700" dirty="0" err="1">
                <a:latin typeface="Consolas" panose="020B0609020204030204" pitchFamily="49" charset="0"/>
              </a:rPr>
              <a:t>p.title</a:t>
            </a:r>
            <a:r>
              <a:rPr lang="lv-LV" sz="1700" dirty="0">
                <a:latin typeface="Consolas" panose="020B0609020204030204" pitchFamily="49" charset="0"/>
              </a:rPr>
              <a:t> AS </a:t>
            </a:r>
            <a:r>
              <a:rPr lang="lv-LV" sz="1700" dirty="0" err="1">
                <a:latin typeface="Consolas" panose="020B0609020204030204" pitchFamily="49" charset="0"/>
              </a:rPr>
              <a:t>programme</a:t>
            </a:r>
            <a:r>
              <a:rPr lang="lv-LV" sz="1700" dirty="0">
                <a:latin typeface="Consolas" panose="020B0609020204030204" pitchFamily="49" charset="0"/>
              </a:rPr>
              <a:t>,</a:t>
            </a:r>
          </a:p>
          <a:p>
            <a:r>
              <a:rPr lang="lv-LV" sz="1700" dirty="0" err="1">
                <a:latin typeface="Consolas" panose="020B0609020204030204" pitchFamily="49" charset="0"/>
              </a:rPr>
              <a:t>count</a:t>
            </a:r>
            <a:r>
              <a:rPr lang="lv-LV" sz="1700" dirty="0">
                <a:latin typeface="Consolas" panose="020B0609020204030204" pitchFamily="49" charset="0"/>
              </a:rPr>
              <a:t>(c) AS </a:t>
            </a:r>
            <a:r>
              <a:rPr lang="lv-LV" sz="1700" dirty="0" err="1">
                <a:latin typeface="Consolas" panose="020B0609020204030204" pitchFamily="49" charset="0"/>
              </a:rPr>
              <a:t>number_of_courses</a:t>
            </a:r>
            <a:r>
              <a:rPr lang="lv-LV" sz="1700" dirty="0">
                <a:latin typeface="Consolas" panose="020B0609020204030204" pitchFamily="49" charset="0"/>
              </a:rPr>
              <a:t>,</a:t>
            </a:r>
          </a:p>
          <a:p>
            <a:r>
              <a:rPr lang="lv-LV" sz="1700" dirty="0">
                <a:latin typeface="Consolas" panose="020B0609020204030204" pitchFamily="49" charset="0"/>
              </a:rPr>
              <a:t>sum(</a:t>
            </a:r>
            <a:r>
              <a:rPr lang="lv-LV" sz="1700" dirty="0" err="1">
                <a:latin typeface="Consolas" panose="020B0609020204030204" pitchFamily="49" charset="0"/>
              </a:rPr>
              <a:t>r.creditPoints</a:t>
            </a:r>
            <a:r>
              <a:rPr lang="lv-LV" sz="1700" dirty="0">
                <a:latin typeface="Consolas" panose="020B0609020204030204" pitchFamily="49" charset="0"/>
              </a:rPr>
              <a:t>) AS </a:t>
            </a:r>
            <a:r>
              <a:rPr lang="lv-LV" sz="1700" dirty="0" err="1">
                <a:latin typeface="Consolas" panose="020B0609020204030204" pitchFamily="49" charset="0"/>
              </a:rPr>
              <a:t>total_credit_points</a:t>
            </a:r>
            <a:endParaRPr lang="lv-LV" sz="1700" dirty="0">
              <a:latin typeface="Consolas" panose="020B0609020204030204" pitchFamily="49" charset="0"/>
            </a:endParaRPr>
          </a:p>
          <a:p>
            <a:r>
              <a:rPr lang="lv-LV" sz="1700" dirty="0">
                <a:latin typeface="Consolas" panose="020B0609020204030204" pitchFamily="49" charset="0"/>
              </a:rPr>
              <a:t>ORDER BY </a:t>
            </a:r>
            <a:r>
              <a:rPr lang="lv-LV" sz="1700" dirty="0" err="1">
                <a:latin typeface="Consolas" panose="020B0609020204030204" pitchFamily="49" charset="0"/>
              </a:rPr>
              <a:t>programme</a:t>
            </a:r>
            <a:r>
              <a:rPr lang="lv-LV" sz="1700" dirty="0"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7C247-8945-1993-882F-383E0CB60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44" y="4228115"/>
            <a:ext cx="10659894" cy="242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527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3A674-1FEA-50C9-17FB-74846C3E8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D397A-26D4-AC98-6E59-DE90DFBC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1200" cy="1325563"/>
          </a:xfrm>
        </p:spPr>
        <p:txBody>
          <a:bodyPr>
            <a:normAutofit/>
          </a:bodyPr>
          <a:lstStyle/>
          <a:p>
            <a:pPr lvl="0"/>
            <a:r>
              <a:rPr lang="lv-LV" sz="3200" b="1" dirty="0" err="1"/>
              <a:t>Query</a:t>
            </a:r>
            <a:r>
              <a:rPr lang="lv-LV" sz="3200" b="1" dirty="0"/>
              <a:t> 4: </a:t>
            </a:r>
            <a:r>
              <a:rPr lang="lv-LV" sz="3200" b="1" dirty="0" err="1"/>
              <a:t>Courses</a:t>
            </a:r>
            <a:r>
              <a:rPr lang="lv-LV" sz="3200" b="1" dirty="0"/>
              <a:t> </a:t>
            </a:r>
            <a:r>
              <a:rPr lang="lv-LV" sz="3200" b="1" dirty="0" err="1"/>
              <a:t>by</a:t>
            </a:r>
            <a:r>
              <a:rPr lang="lv-LV" sz="3200" b="1" dirty="0"/>
              <a:t> </a:t>
            </a:r>
            <a:r>
              <a:rPr lang="lv-LV" sz="3200" b="1" dirty="0" err="1"/>
              <a:t>Programme</a:t>
            </a:r>
            <a:r>
              <a:rPr lang="lv-LV" sz="3200" b="1" dirty="0"/>
              <a:t> </a:t>
            </a:r>
            <a:r>
              <a:rPr lang="lv-LV" sz="3200" b="1" dirty="0" err="1"/>
              <a:t>Section</a:t>
            </a:r>
            <a:endParaRPr lang="lv-LV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F24676-5F87-9B51-1533-D6F3D8BB96F4}"/>
              </a:ext>
            </a:extLst>
          </p:cNvPr>
          <p:cNvSpPr/>
          <p:nvPr/>
        </p:nvSpPr>
        <p:spPr>
          <a:xfrm>
            <a:off x="729344" y="1690688"/>
            <a:ext cx="4865914" cy="2767012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7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8D69DA-4394-7B7B-1608-4639CF1980CB}"/>
              </a:ext>
            </a:extLst>
          </p:cNvPr>
          <p:cNvSpPr txBox="1"/>
          <p:nvPr/>
        </p:nvSpPr>
        <p:spPr>
          <a:xfrm>
            <a:off x="894460" y="1796743"/>
            <a:ext cx="4602827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v-LV" sz="1700" dirty="0">
                <a:latin typeface="Consolas" panose="020B0609020204030204" pitchFamily="49" charset="0"/>
              </a:rPr>
              <a:t>MATCH (</a:t>
            </a:r>
            <a:r>
              <a:rPr lang="lv-LV" sz="1700" dirty="0" err="1">
                <a:latin typeface="Consolas" panose="020B0609020204030204" pitchFamily="49" charset="0"/>
              </a:rPr>
              <a:t>p:StudyProgram</a:t>
            </a:r>
            <a:r>
              <a:rPr lang="lv-LV" sz="1700" dirty="0">
                <a:latin typeface="Consolas" panose="020B0609020204030204" pitchFamily="49" charset="0"/>
              </a:rPr>
              <a:t>)-[</a:t>
            </a:r>
            <a:r>
              <a:rPr lang="lv-LV" sz="1700" dirty="0" err="1">
                <a:latin typeface="Consolas" panose="020B0609020204030204" pitchFamily="49" charset="0"/>
              </a:rPr>
              <a:t>r:HAS_COURSE</a:t>
            </a:r>
            <a:r>
              <a:rPr lang="lv-LV" sz="1700" dirty="0">
                <a:latin typeface="Consolas" panose="020B0609020204030204" pitchFamily="49" charset="0"/>
              </a:rPr>
              <a:t>]-&gt;(</a:t>
            </a:r>
            <a:r>
              <a:rPr lang="lv-LV" sz="1700" dirty="0" err="1">
                <a:latin typeface="Consolas" panose="020B0609020204030204" pitchFamily="49" charset="0"/>
              </a:rPr>
              <a:t>c:Course</a:t>
            </a:r>
            <a:r>
              <a:rPr lang="lv-LV" sz="1700" dirty="0">
                <a:latin typeface="Consolas" panose="020B0609020204030204" pitchFamily="49" charset="0"/>
              </a:rPr>
              <a:t>)</a:t>
            </a:r>
          </a:p>
          <a:p>
            <a:r>
              <a:rPr lang="lv-LV" sz="1700" dirty="0">
                <a:latin typeface="Consolas" panose="020B0609020204030204" pitchFamily="49" charset="0"/>
              </a:rPr>
              <a:t>RETURN </a:t>
            </a:r>
            <a:r>
              <a:rPr lang="lv-LV" sz="1700" dirty="0" err="1">
                <a:latin typeface="Consolas" panose="020B0609020204030204" pitchFamily="49" charset="0"/>
              </a:rPr>
              <a:t>p.title</a:t>
            </a:r>
            <a:r>
              <a:rPr lang="lv-LV" sz="1700" dirty="0">
                <a:latin typeface="Consolas" panose="020B0609020204030204" pitchFamily="49" charset="0"/>
              </a:rPr>
              <a:t> AS </a:t>
            </a:r>
            <a:r>
              <a:rPr lang="lv-LV" sz="1700" dirty="0" err="1">
                <a:latin typeface="Consolas" panose="020B0609020204030204" pitchFamily="49" charset="0"/>
              </a:rPr>
              <a:t>programme</a:t>
            </a:r>
            <a:r>
              <a:rPr lang="lv-LV" sz="1700" dirty="0">
                <a:latin typeface="Consolas" panose="020B0609020204030204" pitchFamily="49" charset="0"/>
              </a:rPr>
              <a:t>,</a:t>
            </a:r>
          </a:p>
          <a:p>
            <a:r>
              <a:rPr lang="lv-LV" sz="1700" dirty="0" err="1">
                <a:latin typeface="Consolas" panose="020B0609020204030204" pitchFamily="49" charset="0"/>
              </a:rPr>
              <a:t>r.sectionCode</a:t>
            </a:r>
            <a:r>
              <a:rPr lang="lv-LV" sz="1700" dirty="0">
                <a:latin typeface="Consolas" panose="020B0609020204030204" pitchFamily="49" charset="0"/>
              </a:rPr>
              <a:t> AS </a:t>
            </a:r>
            <a:r>
              <a:rPr lang="lv-LV" sz="1700" dirty="0" err="1">
                <a:latin typeface="Consolas" panose="020B0609020204030204" pitchFamily="49" charset="0"/>
              </a:rPr>
              <a:t>section_code</a:t>
            </a:r>
            <a:r>
              <a:rPr lang="lv-LV" sz="1700" dirty="0">
                <a:latin typeface="Consolas" panose="020B0609020204030204" pitchFamily="49" charset="0"/>
              </a:rPr>
              <a:t>,</a:t>
            </a:r>
          </a:p>
          <a:p>
            <a:r>
              <a:rPr lang="lv-LV" sz="1700" dirty="0" err="1">
                <a:latin typeface="Consolas" panose="020B0609020204030204" pitchFamily="49" charset="0"/>
              </a:rPr>
              <a:t>r.sectionName</a:t>
            </a:r>
            <a:r>
              <a:rPr lang="lv-LV" sz="1700" dirty="0">
                <a:latin typeface="Consolas" panose="020B0609020204030204" pitchFamily="49" charset="0"/>
              </a:rPr>
              <a:t> AS </a:t>
            </a:r>
            <a:r>
              <a:rPr lang="lv-LV" sz="1700" dirty="0" err="1">
                <a:latin typeface="Consolas" panose="020B0609020204030204" pitchFamily="49" charset="0"/>
              </a:rPr>
              <a:t>section</a:t>
            </a:r>
            <a:r>
              <a:rPr lang="lv-LV" sz="1700" dirty="0">
                <a:latin typeface="Consolas" panose="020B0609020204030204" pitchFamily="49" charset="0"/>
              </a:rPr>
              <a:t>,</a:t>
            </a:r>
          </a:p>
          <a:p>
            <a:r>
              <a:rPr lang="lv-LV" sz="1700" dirty="0" err="1">
                <a:latin typeface="Consolas" panose="020B0609020204030204" pitchFamily="49" charset="0"/>
              </a:rPr>
              <a:t>count</a:t>
            </a:r>
            <a:r>
              <a:rPr lang="lv-LV" sz="1700" dirty="0">
                <a:latin typeface="Consolas" panose="020B0609020204030204" pitchFamily="49" charset="0"/>
              </a:rPr>
              <a:t>(c) AS </a:t>
            </a:r>
            <a:r>
              <a:rPr lang="lv-LV" sz="1700" dirty="0" err="1">
                <a:latin typeface="Consolas" panose="020B0609020204030204" pitchFamily="49" charset="0"/>
              </a:rPr>
              <a:t>number_of_courses</a:t>
            </a:r>
            <a:r>
              <a:rPr lang="lv-LV" sz="1700" dirty="0">
                <a:latin typeface="Consolas" panose="020B0609020204030204" pitchFamily="49" charset="0"/>
              </a:rPr>
              <a:t>,</a:t>
            </a:r>
          </a:p>
          <a:p>
            <a:r>
              <a:rPr lang="lv-LV" sz="1700" dirty="0">
                <a:latin typeface="Consolas" panose="020B0609020204030204" pitchFamily="49" charset="0"/>
              </a:rPr>
              <a:t>sum(</a:t>
            </a:r>
            <a:r>
              <a:rPr lang="lv-LV" sz="1700" dirty="0" err="1">
                <a:latin typeface="Consolas" panose="020B0609020204030204" pitchFamily="49" charset="0"/>
              </a:rPr>
              <a:t>r.creditPoints</a:t>
            </a:r>
            <a:r>
              <a:rPr lang="lv-LV" sz="1700" dirty="0">
                <a:latin typeface="Consolas" panose="020B0609020204030204" pitchFamily="49" charset="0"/>
              </a:rPr>
              <a:t>) AS </a:t>
            </a:r>
            <a:r>
              <a:rPr lang="lv-LV" sz="1700" dirty="0" err="1">
                <a:latin typeface="Consolas" panose="020B0609020204030204" pitchFamily="49" charset="0"/>
              </a:rPr>
              <a:t>credit_points</a:t>
            </a:r>
            <a:endParaRPr lang="lv-LV" sz="1700" dirty="0">
              <a:latin typeface="Consolas" panose="020B0609020204030204" pitchFamily="49" charset="0"/>
            </a:endParaRPr>
          </a:p>
          <a:p>
            <a:r>
              <a:rPr lang="lv-LV" sz="1700" dirty="0">
                <a:latin typeface="Consolas" panose="020B0609020204030204" pitchFamily="49" charset="0"/>
              </a:rPr>
              <a:t>ORDER BY </a:t>
            </a:r>
            <a:r>
              <a:rPr lang="lv-LV" sz="1700" dirty="0" err="1">
                <a:latin typeface="Consolas" panose="020B0609020204030204" pitchFamily="49" charset="0"/>
              </a:rPr>
              <a:t>programme</a:t>
            </a:r>
            <a:r>
              <a:rPr lang="lv-LV" sz="1700" dirty="0">
                <a:latin typeface="Consolas" panose="020B0609020204030204" pitchFamily="49" charset="0"/>
              </a:rPr>
              <a:t>, </a:t>
            </a:r>
            <a:r>
              <a:rPr lang="lv-LV" sz="1700" dirty="0" err="1">
                <a:latin typeface="Consolas" panose="020B0609020204030204" pitchFamily="49" charset="0"/>
              </a:rPr>
              <a:t>section_code</a:t>
            </a:r>
            <a:r>
              <a:rPr lang="lv-LV" sz="1700" dirty="0"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9D9006-67E1-A286-9E40-95A4284F6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114" y="1690688"/>
            <a:ext cx="6376925" cy="351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069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3B5BA-BDD4-3FFA-10B0-7FBFBB28A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2C447-D0C9-C83D-B2BB-324C4D9CE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1200" cy="1325563"/>
          </a:xfrm>
        </p:spPr>
        <p:txBody>
          <a:bodyPr>
            <a:normAutofit/>
          </a:bodyPr>
          <a:lstStyle/>
          <a:p>
            <a:pPr lvl="0"/>
            <a:r>
              <a:rPr lang="lv-LV" sz="3200" b="1" dirty="0" err="1"/>
              <a:t>Query</a:t>
            </a:r>
            <a:r>
              <a:rPr lang="lv-LV" sz="3200" b="1" dirty="0"/>
              <a:t> 5: </a:t>
            </a:r>
            <a:r>
              <a:rPr lang="lv-LV" sz="3200" b="1" dirty="0" err="1"/>
              <a:t>Total</a:t>
            </a:r>
            <a:r>
              <a:rPr lang="lv-LV" sz="3200" b="1" dirty="0"/>
              <a:t> </a:t>
            </a:r>
            <a:r>
              <a:rPr lang="lv-LV" sz="3200" b="1" dirty="0" err="1"/>
              <a:t>Study</a:t>
            </a:r>
            <a:r>
              <a:rPr lang="lv-LV" sz="3200" b="1" dirty="0"/>
              <a:t> </a:t>
            </a:r>
            <a:r>
              <a:rPr lang="lv-LV" sz="3200" b="1" dirty="0" err="1"/>
              <a:t>Workload</a:t>
            </a:r>
            <a:r>
              <a:rPr lang="lv-LV" sz="3200" b="1" dirty="0"/>
              <a:t> </a:t>
            </a:r>
            <a:r>
              <a:rPr lang="lv-LV" sz="3200" b="1" dirty="0" err="1"/>
              <a:t>by</a:t>
            </a:r>
            <a:r>
              <a:rPr lang="lv-LV" sz="3200" b="1" dirty="0"/>
              <a:t> </a:t>
            </a:r>
            <a:r>
              <a:rPr lang="lv-LV" sz="3200" b="1" dirty="0" err="1"/>
              <a:t>Course</a:t>
            </a:r>
            <a:endParaRPr lang="lv-LV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F3CE8B-9152-404B-7888-1051B13C4285}"/>
              </a:ext>
            </a:extLst>
          </p:cNvPr>
          <p:cNvSpPr/>
          <p:nvPr/>
        </p:nvSpPr>
        <p:spPr>
          <a:xfrm>
            <a:off x="729343" y="1690688"/>
            <a:ext cx="8081281" cy="2909887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7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D60E2C-9C4C-9238-F9D5-F086767880F0}"/>
              </a:ext>
            </a:extLst>
          </p:cNvPr>
          <p:cNvSpPr txBox="1"/>
          <p:nvPr/>
        </p:nvSpPr>
        <p:spPr>
          <a:xfrm>
            <a:off x="894460" y="1796743"/>
            <a:ext cx="7801865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v-LV" sz="1700" dirty="0">
                <a:latin typeface="Consolas" panose="020B0609020204030204" pitchFamily="49" charset="0"/>
              </a:rPr>
              <a:t>MATCH (</a:t>
            </a:r>
            <a:r>
              <a:rPr lang="lv-LV" sz="1700" dirty="0" err="1">
                <a:latin typeface="Consolas" panose="020B0609020204030204" pitchFamily="49" charset="0"/>
              </a:rPr>
              <a:t>c:Course</a:t>
            </a:r>
            <a:r>
              <a:rPr lang="lv-LV" sz="1700" dirty="0">
                <a:latin typeface="Consolas" panose="020B0609020204030204" pitchFamily="49" charset="0"/>
              </a:rPr>
              <a:t>)-[:HAS_TOPIC]-&gt;(</a:t>
            </a:r>
            <a:r>
              <a:rPr lang="lv-LV" sz="1700" dirty="0" err="1">
                <a:latin typeface="Consolas" panose="020B0609020204030204" pitchFamily="49" charset="0"/>
              </a:rPr>
              <a:t>t:Topic</a:t>
            </a:r>
            <a:r>
              <a:rPr lang="lv-LV" sz="1700" dirty="0">
                <a:latin typeface="Consolas" panose="020B0609020204030204" pitchFamily="49" charset="0"/>
              </a:rPr>
              <a:t>)</a:t>
            </a:r>
          </a:p>
          <a:p>
            <a:r>
              <a:rPr lang="lv-LV" sz="1700" dirty="0">
                <a:latin typeface="Consolas" panose="020B0609020204030204" pitchFamily="49" charset="0"/>
              </a:rPr>
              <a:t>RETURN </a:t>
            </a:r>
            <a:r>
              <a:rPr lang="lv-LV" sz="1700" dirty="0" err="1">
                <a:latin typeface="Consolas" panose="020B0609020204030204" pitchFamily="49" charset="0"/>
              </a:rPr>
              <a:t>c.title</a:t>
            </a:r>
            <a:r>
              <a:rPr lang="lv-LV" sz="1700" dirty="0">
                <a:latin typeface="Consolas" panose="020B0609020204030204" pitchFamily="49" charset="0"/>
              </a:rPr>
              <a:t> AS </a:t>
            </a:r>
            <a:r>
              <a:rPr lang="lv-LV" sz="1700" dirty="0" err="1">
                <a:latin typeface="Consolas" panose="020B0609020204030204" pitchFamily="49" charset="0"/>
              </a:rPr>
              <a:t>course</a:t>
            </a:r>
            <a:r>
              <a:rPr lang="lv-LV" sz="1700" dirty="0">
                <a:latin typeface="Consolas" panose="020B0609020204030204" pitchFamily="49" charset="0"/>
              </a:rPr>
              <a:t>,</a:t>
            </a:r>
          </a:p>
          <a:p>
            <a:r>
              <a:rPr lang="lv-LV" sz="1700" dirty="0">
                <a:latin typeface="Consolas" panose="020B0609020204030204" pitchFamily="49" charset="0"/>
              </a:rPr>
              <a:t>sum(</a:t>
            </a:r>
            <a:r>
              <a:rPr lang="lv-LV" sz="1700" dirty="0" err="1">
                <a:latin typeface="Consolas" panose="020B0609020204030204" pitchFamily="49" charset="0"/>
              </a:rPr>
              <a:t>coalesce</a:t>
            </a:r>
            <a:r>
              <a:rPr lang="lv-LV" sz="1700" dirty="0">
                <a:latin typeface="Consolas" panose="020B0609020204030204" pitchFamily="49" charset="0"/>
              </a:rPr>
              <a:t>(</a:t>
            </a:r>
            <a:r>
              <a:rPr lang="lv-LV" sz="1700" dirty="0" err="1">
                <a:latin typeface="Consolas" panose="020B0609020204030204" pitchFamily="49" charset="0"/>
              </a:rPr>
              <a:t>t.intramuralContactHours</a:t>
            </a:r>
            <a:r>
              <a:rPr lang="lv-LV" sz="1700" dirty="0">
                <a:latin typeface="Consolas" panose="020B0609020204030204" pitchFamily="49" charset="0"/>
              </a:rPr>
              <a:t>, 0)) AS </a:t>
            </a:r>
            <a:r>
              <a:rPr lang="lv-LV" sz="1700" dirty="0" err="1">
                <a:latin typeface="Consolas" panose="020B0609020204030204" pitchFamily="49" charset="0"/>
              </a:rPr>
              <a:t>contact_hours</a:t>
            </a:r>
            <a:r>
              <a:rPr lang="lv-LV" sz="1700" dirty="0">
                <a:latin typeface="Consolas" panose="020B0609020204030204" pitchFamily="49" charset="0"/>
              </a:rPr>
              <a:t>,</a:t>
            </a:r>
          </a:p>
          <a:p>
            <a:r>
              <a:rPr lang="lv-LV" sz="1700" dirty="0">
                <a:latin typeface="Consolas" panose="020B0609020204030204" pitchFamily="49" charset="0"/>
              </a:rPr>
              <a:t>sum(</a:t>
            </a:r>
            <a:r>
              <a:rPr lang="lv-LV" sz="1700" dirty="0" err="1">
                <a:latin typeface="Consolas" panose="020B0609020204030204" pitchFamily="49" charset="0"/>
              </a:rPr>
              <a:t>coalesce</a:t>
            </a:r>
            <a:r>
              <a:rPr lang="lv-LV" sz="1700" dirty="0">
                <a:latin typeface="Consolas" panose="020B0609020204030204" pitchFamily="49" charset="0"/>
              </a:rPr>
              <a:t>(</a:t>
            </a:r>
            <a:r>
              <a:rPr lang="lv-LV" sz="1700" dirty="0" err="1">
                <a:latin typeface="Consolas" panose="020B0609020204030204" pitchFamily="49" charset="0"/>
              </a:rPr>
              <a:t>t.intramuralIndependentHours</a:t>
            </a:r>
            <a:r>
              <a:rPr lang="lv-LV" sz="1700" dirty="0">
                <a:latin typeface="Consolas" panose="020B0609020204030204" pitchFamily="49" charset="0"/>
              </a:rPr>
              <a:t>, 0)) AS </a:t>
            </a:r>
            <a:r>
              <a:rPr lang="lv-LV" sz="1700" dirty="0" err="1">
                <a:latin typeface="Consolas" panose="020B0609020204030204" pitchFamily="49" charset="0"/>
              </a:rPr>
              <a:t>independent_hours</a:t>
            </a:r>
            <a:r>
              <a:rPr lang="lv-LV" sz="1700" dirty="0">
                <a:latin typeface="Consolas" panose="020B0609020204030204" pitchFamily="49" charset="0"/>
              </a:rPr>
              <a:t>,</a:t>
            </a:r>
          </a:p>
          <a:p>
            <a:r>
              <a:rPr lang="lv-LV" sz="1700" dirty="0">
                <a:latin typeface="Consolas" panose="020B0609020204030204" pitchFamily="49" charset="0"/>
              </a:rPr>
              <a:t>sum(</a:t>
            </a:r>
          </a:p>
          <a:p>
            <a:r>
              <a:rPr lang="lv-LV" sz="1700" dirty="0" err="1">
                <a:latin typeface="Consolas" panose="020B0609020204030204" pitchFamily="49" charset="0"/>
              </a:rPr>
              <a:t>coalesce</a:t>
            </a:r>
            <a:r>
              <a:rPr lang="lv-LV" sz="1700" dirty="0">
                <a:latin typeface="Consolas" panose="020B0609020204030204" pitchFamily="49" charset="0"/>
              </a:rPr>
              <a:t>(</a:t>
            </a:r>
            <a:r>
              <a:rPr lang="lv-LV" sz="1700" dirty="0" err="1">
                <a:latin typeface="Consolas" panose="020B0609020204030204" pitchFamily="49" charset="0"/>
              </a:rPr>
              <a:t>t.intramuralContactHours</a:t>
            </a:r>
            <a:r>
              <a:rPr lang="lv-LV" sz="1700" dirty="0">
                <a:latin typeface="Consolas" panose="020B0609020204030204" pitchFamily="49" charset="0"/>
              </a:rPr>
              <a:t>, 0) +</a:t>
            </a:r>
          </a:p>
          <a:p>
            <a:r>
              <a:rPr lang="lv-LV" sz="1700" dirty="0" err="1">
                <a:latin typeface="Consolas" panose="020B0609020204030204" pitchFamily="49" charset="0"/>
              </a:rPr>
              <a:t>coalesce</a:t>
            </a:r>
            <a:r>
              <a:rPr lang="lv-LV" sz="1700" dirty="0">
                <a:latin typeface="Consolas" panose="020B0609020204030204" pitchFamily="49" charset="0"/>
              </a:rPr>
              <a:t>(</a:t>
            </a:r>
            <a:r>
              <a:rPr lang="lv-LV" sz="1700" dirty="0" err="1">
                <a:latin typeface="Consolas" panose="020B0609020204030204" pitchFamily="49" charset="0"/>
              </a:rPr>
              <a:t>t.intramuralIndependentHours</a:t>
            </a:r>
            <a:r>
              <a:rPr lang="lv-LV" sz="1700" dirty="0">
                <a:latin typeface="Consolas" panose="020B0609020204030204" pitchFamily="49" charset="0"/>
              </a:rPr>
              <a:t>, 0)</a:t>
            </a:r>
          </a:p>
          <a:p>
            <a:r>
              <a:rPr lang="lv-LV" sz="1700" dirty="0">
                <a:latin typeface="Consolas" panose="020B0609020204030204" pitchFamily="49" charset="0"/>
              </a:rPr>
              <a:t>) AS </a:t>
            </a:r>
            <a:r>
              <a:rPr lang="lv-LV" sz="1700" dirty="0" err="1">
                <a:latin typeface="Consolas" panose="020B0609020204030204" pitchFamily="49" charset="0"/>
              </a:rPr>
              <a:t>total_hours</a:t>
            </a:r>
            <a:endParaRPr lang="lv-LV" sz="1700" dirty="0">
              <a:latin typeface="Consolas" panose="020B0609020204030204" pitchFamily="49" charset="0"/>
            </a:endParaRPr>
          </a:p>
          <a:p>
            <a:r>
              <a:rPr lang="lv-LV" sz="1700" dirty="0">
                <a:latin typeface="Consolas" panose="020B0609020204030204" pitchFamily="49" charset="0"/>
              </a:rPr>
              <a:t>ORDER BY </a:t>
            </a:r>
            <a:r>
              <a:rPr lang="lv-LV" sz="1700" dirty="0" err="1">
                <a:latin typeface="Consolas" panose="020B0609020204030204" pitchFamily="49" charset="0"/>
              </a:rPr>
              <a:t>total_hours</a:t>
            </a:r>
            <a:r>
              <a:rPr lang="lv-LV" sz="1700" dirty="0">
                <a:latin typeface="Consolas" panose="020B0609020204030204" pitchFamily="49" charset="0"/>
              </a:rPr>
              <a:t> DESC;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E0ED32-B412-0195-9D24-DD34154EF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325" y="3053875"/>
            <a:ext cx="6063668" cy="299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08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496</Words>
  <Application>Microsoft Office PowerPoint</Application>
  <PresentationFormat>Widescreen</PresentationFormat>
  <Paragraphs>64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Aptos Display (Headings)</vt:lpstr>
      <vt:lpstr>Arial</vt:lpstr>
      <vt:lpstr>Consolas</vt:lpstr>
      <vt:lpstr>Office Theme</vt:lpstr>
      <vt:lpstr>AuraDB Knowledge Graph Creation</vt:lpstr>
      <vt:lpstr>Data Import and Schema Generation in Neo4j AuraDB 1. Imported node and edge CSV files 2. Generated the graph model using Neo4j Aura's Generate with AI</vt:lpstr>
      <vt:lpstr>Core graph model</vt:lpstr>
      <vt:lpstr>PowerPoint Presentation</vt:lpstr>
      <vt:lpstr>Graph Schema Visualization</vt:lpstr>
      <vt:lpstr>Query 1: Digital Humanities Courses</vt:lpstr>
      <vt:lpstr>Query 2: Courses Shared by BI and DH</vt:lpstr>
      <vt:lpstr>Courses Shared by BI and DH (Graph View)</vt:lpstr>
      <vt:lpstr>Query 3: Courses and Credits by Programme</vt:lpstr>
      <vt:lpstr>Query 4: Courses by Programme Section</vt:lpstr>
      <vt:lpstr>Query 5: Total Study Workload by Course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Vladislavs Babaņins</dc:creator>
  <cp:lastModifiedBy>Vladislavs Babaņins</cp:lastModifiedBy>
  <cp:revision>7</cp:revision>
  <dcterms:created xsi:type="dcterms:W3CDTF">2026-10-05T17:17:39Z</dcterms:created>
  <dcterms:modified xsi:type="dcterms:W3CDTF">2026-10-06T20:54:23Z</dcterms:modified>
</cp:coreProperties>
</file>